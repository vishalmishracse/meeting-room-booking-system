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731520"/>
            <a:ext cx="2926080" cy="457200"/>
          </a:xfrm>
          <a:prstGeom prst="roundRect">
            <a:avLst/>
          </a:prstGeom>
          <a:solidFill>
            <a:srgbClr val="334155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ENTERPRISE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371600"/>
            <a:ext cx="5669280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8FAFC"/>
                </a:solidFill>
              </a:defRPr>
            </a:pPr>
            <a:r>
              <a:t>Lumina Reserve</a:t>
            </a:r>
          </a:p>
          <a:p>
            <a:pPr>
              <a:spcBef>
                <a:spcPts val="800"/>
              </a:spcBef>
              <a:defRPr sz="1300">
                <a:solidFill>
                  <a:srgbClr val="A855F7"/>
                </a:solidFill>
              </a:defRPr>
            </a:pPr>
            <a:r>
              <a:t>Corporate Spatial Management &amp; Meeting Room Reservation Suite</a:t>
            </a:r>
          </a:p>
          <a:p>
            <a:br/>
            <a:pPr>
              <a:spcBef>
                <a:spcPts val="1400"/>
              </a:spcBef>
              <a:defRPr sz="1200" b="1">
                <a:solidFill>
                  <a:srgbClr val="34D399"/>
                </a:solidFill>
              </a:defRPr>
            </a:pPr>
            <a:r>
              <a:t>KEY SYSTEM HIGHLIGHTS: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✔  Strict Relational Database Engine (MySQL 8.0 InnoDB)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✔  Automated 15-Minute Approval Window Engine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✔  Multi-Channel Automated WhatsApp (Green API) &amp; Gmail Calendar Emailing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389120" cy="484632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br/>
            <a:br/>
            <a:br/>
            <a:r>
              <a:t>📸 [INSERT SCREENSHOT HERE: Lumina Reserve App Logo &amp; Hero Homepage]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10728655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[ PROBLEM STATEMENT &amp; IMPACT ] — SLIDE 2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Executive Problem Statement &amp; Business Impact</a:t>
            </a:r>
          </a:p>
          <a:p>
            <a:pPr>
              <a:defRPr sz="1150">
                <a:solidFill>
                  <a:srgbClr val="A855F7"/>
                </a:solidFill>
              </a:defRPr>
            </a:pPr>
            <a:r>
              <a:t>Eliminating Office Scheduling Conflicts &amp; Approval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486400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The Problem: Double bookings cause meeting delays and team friction.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The Problem: Managers tied up in manual approval queues.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The Solution: Real-time slot locking with zero conflicts guaranteed.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Business Impact: 100% elimination of room scheduling collisions.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059375" cy="47091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828800"/>
            <a:ext cx="4785055" cy="4434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br/>
            <a:br/>
            <a:br/>
            <a:r>
              <a:t>📸 [INSERT SCREENSHOT HERE: Employee Dashboard &amp; Active Reservations]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10728655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[ SYSTEM ARCHITECTURE ] — SLIDE 3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Non-Technical System Architecture Overview</a:t>
            </a:r>
          </a:p>
          <a:p>
            <a:pPr>
              <a:defRPr sz="1150">
                <a:solidFill>
                  <a:srgbClr val="A855F7"/>
                </a:solidFill>
              </a:defRPr>
            </a:pPr>
            <a:r>
              <a:t>Lightweight, High-Performance 3-Tier Enterprise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486400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Presentation Layer: Interactive Web UI built with Next.js &amp; React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Database Layer: MySQL 8.0 with InnoDB Storage Engine for data security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Messaging Layer: Real Gmail SMTP Mailer &amp; Green API WhatsApp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059375" cy="47091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828800"/>
            <a:ext cx="4785055" cy="4434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br/>
            <a:br/>
            <a:br/>
            <a:r>
              <a:t>📸 [INSERT SCREENSHOT HERE: System Architecture &amp; Flow Diagram]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10728655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[ DATABASE MODEL ] — SLIDE 4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MySQL Relational Schema &amp; Workbench EER Diagram</a:t>
            </a:r>
          </a:p>
          <a:p>
            <a:pPr>
              <a:defRPr sz="1150">
                <a:solidFill>
                  <a:srgbClr val="A855F7"/>
                </a:solidFill>
              </a:defRPr>
            </a:pPr>
            <a:r>
              <a:t>12 Interconnected SQL Tables Linked via Foreign Keys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486400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Structured Tables: users, rooms, bookings, attendees, supplies, histories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Workbench Ready: Press Ctrl + R in MySQL Workbench to generate visual map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Data Integrity: Foreign key constraints prevent orphaned records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059375" cy="47091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828800"/>
            <a:ext cx="4785055" cy="4434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br/>
            <a:br/>
            <a:br/>
            <a:r>
              <a:t>📸 [INSERT SCREENSHOT HERE: MySQL Workbench Ctrl + R EER Diagram]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10728655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[ AUTHENTICATION &amp; ROLES ] — SLIDE 5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Sign In &amp; Sign Up Authentication Portal</a:t>
            </a:r>
          </a:p>
          <a:p>
            <a:pPr>
              <a:defRPr sz="1150">
                <a:solidFill>
                  <a:srgbClr val="A855F7"/>
                </a:solidFill>
              </a:defRPr>
            </a:pPr>
            <a:r>
              <a:t>Secure Employee &amp; Manager Account Management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486400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Sign In Tab: Auto-trims email inputs and validates bcrypt password hash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Sign Up Tab: Self-registration for new employees into MySQL database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Role Routing: Automatic redirection to Employee (/), Manager (/manager), or Admin (/admin)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059375" cy="47091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828800"/>
            <a:ext cx="4785055" cy="4434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br/>
            <a:br/>
            <a:br/>
            <a:r>
              <a:t>📸 [INSERT SCREENSHOT HERE: Login &amp; Sign Up Portal Page]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10728655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[ SPATIAL EXPLORER ] — SLIDE 6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All-Rooms Explorer &amp; Filter Engine</a:t>
            </a:r>
          </a:p>
          <a:p>
            <a:pPr>
              <a:defRPr sz="1150">
                <a:solidFill>
                  <a:srgbClr val="A855F7"/>
                </a:solidFill>
              </a:defRPr>
            </a:pPr>
            <a:r>
              <a:t>Complete Real-Time Visibility of Corporate Facilities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486400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Default Open View: All rooms displayed immediately upon page load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Search Engine: Search rooms by designation or floor location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Filter Pills: Instant filtering by seats (All, 2-5, 6-12, 12+) or amenities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059375" cy="47091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828800"/>
            <a:ext cx="4785055" cy="4434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br/>
            <a:br/>
            <a:br/>
            <a:r>
              <a:t>📸 [INSERT SCREENSHOT HERE: All-Rooms Explorer Grid View]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10728655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[ MEDIA &amp; ASSETS ] — SLIDE 7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Direct Computer Photo File Upload (&lt;input type='file'&gt;)</a:t>
            </a:r>
          </a:p>
          <a:p>
            <a:pPr>
              <a:defRPr sz="1150">
                <a:solidFill>
                  <a:srgbClr val="A855F7"/>
                </a:solidFill>
              </a:defRPr>
            </a:pPr>
            <a:r>
              <a:t>Custom Local Computer Hard Drive Image Uploading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486400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Computer File Picker: Admins click 'Choose File' to pick local photos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Base64 Conversion: Converts images to Data URLs stored in MySQL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Flexible Options: Web image links are also fully supported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059375" cy="47091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828800"/>
            <a:ext cx="4785055" cy="4434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br/>
            <a:br/>
            <a:br/>
            <a:r>
              <a:t>📸 [INSERT SCREENSHOT HERE: Add/Edit Room Modal File Picker]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10728655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[ SLOT SCHEDULING ] — SLIDE 8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Conflict-Free Real-Time Room Booking</a:t>
            </a:r>
          </a:p>
          <a:p>
            <a:pPr>
              <a:defRPr sz="1150">
                <a:solidFill>
                  <a:srgbClr val="A855F7"/>
                </a:solidFill>
              </a:defRPr>
            </a:pPr>
            <a:r>
              <a:t>Interactive Date &amp; Half-Hourly Slot Selector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486400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Time Grid: Select date and time slot (Morning, Afternoon, Evening)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Slot Lock: Booked slots are instantly highlighted and disabled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Attendee Invites: Add team member emails to receive calendar invites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059375" cy="47091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828800"/>
            <a:ext cx="4785055" cy="4434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br/>
            <a:br/>
            <a:br/>
            <a:r>
              <a:t>📸 [INSERT SCREENSHOT HERE: Booking Side Panel &amp; Slot Picker]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10728655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[ AUTOMATED APPROVALS ] — SLIDE 9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15-Minute Auto-Approval Mechanism</a:t>
            </a:r>
          </a:p>
          <a:p>
            <a:pPr>
              <a:defRPr sz="1150">
                <a:solidFill>
                  <a:srgbClr val="A855F7"/>
                </a:solidFill>
              </a:defRPr>
            </a:pPr>
            <a:r>
              <a:t>Eliminating Administrative Approval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486400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Smart Timer: Pending requests auto-approve after 15 minutes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Zero Delays: Ensures employees can proceed even if managers are in meetings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Status Badges: Displays 'Approved' or 'Auto-Approved (15m Window)'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059375" cy="47091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828800"/>
            <a:ext cx="4785055" cy="4434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br/>
            <a:br/>
            <a:br/>
            <a:r>
              <a:t>📸 [INSERT SCREENSHOT HERE: Booking List showing Auto-Approved Badge]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10728655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[ WHATSAPP INTEGRATION ] — SLIDE 10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Multi-Channel WhatsApp Automated Broadcasting (Green API)</a:t>
            </a:r>
          </a:p>
          <a:p>
            <a:pPr>
              <a:defRPr sz="1150">
                <a:solidFill>
                  <a:srgbClr val="A855F7"/>
                </a:solidFill>
              </a:defRPr>
            </a:pPr>
            <a:r>
              <a:t>Background Messaging &amp; 1-Click Web Links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486400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Green API Integration: Automated background WhatsApp message dispatch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Designated Chats: Sends to Primary (+919652456879), Vishal, &amp; Malavika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1-Click Web Link: Fallback button opens WhatsApp Web with formatted text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059375" cy="47091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828800"/>
            <a:ext cx="4785055" cy="4434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br/>
            <a:br/>
            <a:br/>
            <a:r>
              <a:t>📸 [INSERT SCREENSHOT HERE: WhatsApp Button &amp; Pre-Filled Text Preview]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10728655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[ ATTENDEE MANAGEMENT ] — SLIDE 11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Edit Participants on Active Meetings</a:t>
            </a:r>
          </a:p>
          <a:p>
            <a:pPr>
              <a:defRPr sz="1150">
                <a:solidFill>
                  <a:srgbClr val="A855F7"/>
                </a:solidFill>
              </a:defRPr>
            </a:pPr>
            <a:r>
              <a:t>Dynamic Member Management for Managers &amp; Admins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486400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Edit Members Button: Modify attendee lists on active reservations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Flexibility: Add late invitees or remove members without canceling meeting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Audit Persistence: Saves member modification events in history log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059375" cy="47091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828800"/>
            <a:ext cx="4785055" cy="4434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br/>
            <a:br/>
            <a:br/>
            <a:r>
              <a:t>📸 [INSERT SCREENSHOT HERE: Edit Participants Modal]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10728655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[ MANAGER SUITE ] — SLIDE 12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Manager Approval Suite &amp; Priority Requests</a:t>
            </a:r>
          </a:p>
          <a:p>
            <a:pPr>
              <a:defRPr sz="1150">
                <a:solidFill>
                  <a:srgbClr val="A855F7"/>
                </a:solidFill>
              </a:defRPr>
            </a:pPr>
            <a:r>
              <a:t>Real-Time Priority Queue for Operations Leadership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486400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Pending Queue: Review incoming meeting requests in real time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Priority Tagging: Highlights VIP, Executive, and Training sessions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1-Click Actions: Approve or decline requests with custom reason notes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059375" cy="47091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828800"/>
            <a:ext cx="4785055" cy="4434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br/>
            <a:br/>
            <a:br/>
            <a:r>
              <a:t>📸 [INSERT SCREENSHOT HERE: Manager Dashboard Approval Queue]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10728655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[ AUDIT &amp; TIMELINE ] — SLIDE 13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Room-Specific Audit History &amp; System Logs</a:t>
            </a:r>
          </a:p>
          <a:p>
            <a:pPr>
              <a:defRPr sz="1150">
                <a:solidFill>
                  <a:srgbClr val="A855F7"/>
                </a:solidFill>
              </a:defRPr>
            </a:pPr>
            <a:r>
              <a:t>Chronological Utilization &amp; Event Tracking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486400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Room History Modal: Click any room card to open its dedicated audit log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Full Timeline: Displays booking creations, edits, cancellations, and notes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SQL Persistence: Stored permanently in the booking_histories 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059375" cy="47091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828800"/>
            <a:ext cx="4785055" cy="4434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br/>
            <a:br/>
            <a:br/>
            <a:r>
              <a:t>📸 [INSERT SCREENSHOT HERE: Room History Audit Log Modal]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10728655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[ FACILITY HEALTH ] — SLIDE 14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Facility Room Supplies &amp; Maintenance Tracking</a:t>
            </a:r>
          </a:p>
          <a:p>
            <a:pPr>
              <a:defRPr sz="1150">
                <a:solidFill>
                  <a:srgbClr val="A855F7"/>
                </a:solidFill>
              </a:defRPr>
            </a:pPr>
            <a:r>
              <a:t>Equipment Restocking &amp; Room Health Lifecycles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486400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Equipment Reports: Report missing items (HDMI cables, markers, remotes)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Status Lifecycle: Cycle items: Missing -&gt; To Buy -&gt; Purchased -&gt; Restocked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Maintenance Mode: Temporarily pause room availability for repairs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059375" cy="47091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828800"/>
            <a:ext cx="4785055" cy="4434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br/>
            <a:br/>
            <a:br/>
            <a:r>
              <a:t>📸 [INSERT SCREENSHOT HERE: Room Supplies Status Cards Grid]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10728655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[ EMAIL AUTOMATION ] — SLIDE 15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Automated Gmail Calendar Email Notifications</a:t>
            </a:r>
          </a:p>
          <a:p>
            <a:pPr>
              <a:defRPr sz="1150">
                <a:solidFill>
                  <a:srgbClr val="A855F7"/>
                </a:solidFill>
              </a:defRPr>
            </a:pPr>
            <a:r>
              <a:t>Interactive Calendar Invitations via Gmail SMTP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486400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Gmail SMTP Transporter: Real emails sent via meetingroom9252@gmail.com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Interactive Button: Includes '📅 Add to Google Calendar' link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File Attachments: Sends standard .ics calendar invite attachments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059375" cy="47091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828800"/>
            <a:ext cx="4785055" cy="4434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br/>
            <a:br/>
            <a:br/>
            <a:r>
              <a:t>📸 [INSERT SCREENSHOT HERE: Gmail Confirmation Email in Inbox]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10728655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[ SECURITY &amp; GOVERNANCE ] — SLIDE 16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System Security &amp; Role-Based Permissions (RBAC)</a:t>
            </a:r>
          </a:p>
          <a:p>
            <a:pPr>
              <a:defRPr sz="1150">
                <a:solidFill>
                  <a:srgbClr val="A855F7"/>
                </a:solidFill>
              </a:defRPr>
            </a:pPr>
            <a:r>
              <a:t>Enterprise Compliance &amp; Password Encryption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486400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Password Security: Bcrypt salt round password hashing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Employee Role: Booking &amp; Room Explorer access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Manager Role: Approvals, Member Edits, Supplies &amp; Room History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Admin Role: Room Management, Direct Uploads, Maintenance &amp; Audit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059375" cy="47091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828800"/>
            <a:ext cx="4785055" cy="4434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br/>
            <a:br/>
            <a:br/>
            <a:r>
              <a:t>📸 [INSERT SCREENSHOT HERE: User Roles Matrix Table]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10728655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[ LIVE DEMONSTRATION ] — SLIDE 17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Step-by-Step 3-Minute Live Demo Walkthrough</a:t>
            </a:r>
          </a:p>
          <a:p>
            <a:pPr>
              <a:defRPr sz="1150">
                <a:solidFill>
                  <a:srgbClr val="A855F7"/>
                </a:solidFill>
              </a:defRPr>
            </a:pPr>
            <a:r>
              <a:t>Seamless Live Presentation Script for Managers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486400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Step 1: Show MySQL Workbench EER Diagram (Ctrl + R)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Step 2: Log in as Employee, book room, click WhatsApp Share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Step 3: Log in as Manager, Edit Members, and check Room History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🔹 Step 4: Check Gmail inbox for automated calendar invite email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059375" cy="47091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828800"/>
            <a:ext cx="4785055" cy="4434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br/>
            <a:br/>
            <a:br/>
            <a:r>
              <a:t>📸 [INSERT SCREENSHOT HERE: Multi-Window Demo Overview]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731520"/>
            <a:ext cx="2926080" cy="457200"/>
          </a:xfrm>
          <a:prstGeom prst="roundRect">
            <a:avLst/>
          </a:prstGeom>
          <a:solidFill>
            <a:srgbClr val="334155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CONCLUSION &amp; Q&amp;A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371600"/>
            <a:ext cx="5669280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8FAFC"/>
                </a:solidFill>
              </a:defRPr>
            </a:pPr>
            <a:r>
              <a:t>Summary of Business Benefits</a:t>
            </a:r>
          </a:p>
          <a:p>
            <a:pPr>
              <a:spcBef>
                <a:spcPts val="800"/>
              </a:spcBef>
              <a:defRPr sz="1300">
                <a:solidFill>
                  <a:srgbClr val="A855F7"/>
                </a:solidFill>
              </a:defRPr>
            </a:pPr>
            <a:r>
              <a:t>Ready for Executive Management Review</a:t>
            </a:r>
          </a:p>
          <a:p>
            <a:br/>
            <a:pPr>
              <a:spcBef>
                <a:spcPts val="1400"/>
              </a:spcBef>
              <a:defRPr sz="1200" b="1">
                <a:solidFill>
                  <a:srgbClr val="34D399"/>
                </a:solidFill>
              </a:defRPr>
            </a:pPr>
            <a:r>
              <a:t>KEY SYSTEM HIGHLIGHTS: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✔  100% Conflict-Free Spatial Booking System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✔  Automated 15-Minute Approvals &amp; Equipment Restock Tracking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✔  Strict Relational SQL Database Core (MySQL 8.0 InnoDB)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✔  Access App Live: http://localhost:3000/login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389120" cy="484632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br/>
            <a:br/>
            <a:br/>
            <a:r>
              <a:t>📸 [INSERT SCREENSHOT HERE: Final Closing Slide / Login Portal]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